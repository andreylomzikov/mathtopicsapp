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96" r:id="rId3"/>
    <p:sldId id="307" r:id="rId4"/>
    <p:sldId id="306" r:id="rId5"/>
    <p:sldId id="297" r:id="rId6"/>
    <p:sldId id="257" r:id="rId7"/>
    <p:sldId id="308" r:id="rId8"/>
    <p:sldId id="313" r:id="rId9"/>
    <p:sldId id="314" r:id="rId10"/>
    <p:sldId id="315" r:id="rId11"/>
    <p:sldId id="317" r:id="rId12"/>
    <p:sldId id="319" r:id="rId13"/>
  </p:sldIdLst>
  <p:sldSz cx="9144000" cy="5143500" type="screen16x9"/>
  <p:notesSz cx="6858000" cy="9144000"/>
  <p:embeddedFontLst>
    <p:embeddedFont>
      <p:font typeface="Aldrich" panose="020B0604020202020204" charset="0"/>
      <p:regular r:id="rId15"/>
    </p:embeddedFont>
    <p:embeddedFont>
      <p:font typeface="Bebas Neue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Saira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E9F440-6155-48A2-98EE-A740F4973178}">
  <a:tblStyle styleId="{5CE9F440-6155-48A2-98EE-A740F4973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D5DF63-0976-4480-BFEB-E79AE3FB4E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214680061544037E-2"/>
          <c:y val="3.6065727881262909E-2"/>
          <c:w val="0.88649796361661692"/>
          <c:h val="0.518167193385553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испытывают трудности с систематизацией материала</c:v>
                </c:pt>
              </c:strCache>
            </c:strRef>
          </c:tx>
          <c:spPr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Лист1!$B$2</c:f>
              <c:numCache>
                <c:formatCode>0%</c:formatCode>
                <c:ptCount val="1"/>
                <c:pt idx="0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6-4248-A372-1382A931054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нуждаются в офлайн-доступе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Лист1!$C$2</c:f>
              <c:numCache>
                <c:formatCode>0%</c:formatCode>
                <c:ptCount val="1"/>
                <c:pt idx="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56-4248-A372-1382A931054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хотят каталог тем с привязкой к классам</c:v>
                </c:pt>
              </c:strCache>
            </c:strRef>
          </c:tx>
          <c:spPr>
            <a:solidFill>
              <a:schemeClr val="tx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Лист1!$D$2</c:f>
              <c:numCache>
                <c:formatCode>0%</c:formatCode>
                <c:ptCount val="1"/>
                <c:pt idx="0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56-4248-A372-1382A93105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8612623"/>
        <c:axId val="1264235071"/>
      </c:barChart>
      <c:catAx>
        <c:axId val="1268612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64235071"/>
        <c:crosses val="autoZero"/>
        <c:auto val="1"/>
        <c:lblAlgn val="ctr"/>
        <c:lblOffset val="100"/>
        <c:noMultiLvlLbl val="0"/>
      </c:catAx>
      <c:valAx>
        <c:axId val="1264235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  <c:crossAx val="1268612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ru-RU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ru-RU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</c:legendEntry>
      <c:layout>
        <c:manualLayout>
          <c:xMode val="edge"/>
          <c:yMode val="edge"/>
          <c:x val="0.10907340030772016"/>
          <c:y val="0.59122259610200378"/>
          <c:w val="0.86920934021178387"/>
          <c:h val="0.374245750535244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56539053307991"/>
          <c:y val="3.6065727881262909E-2"/>
          <c:w val="0.88649796361661692"/>
          <c:h val="0.433306928265772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Удобство навигации по классам</c:v>
                </c:pt>
              </c:strCache>
            </c:strRef>
          </c:tx>
          <c:spPr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Лист1!$B$2</c:f>
              <c:numCache>
                <c:formatCode>0%</c:formatCode>
                <c:ptCount val="1"/>
                <c:pt idx="0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6-4248-A372-1382A931054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Понятность системы фильтрации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Лист1!$C$2</c:f>
              <c:numCache>
                <c:formatCode>0%</c:formatCode>
                <c:ptCount val="1"/>
                <c:pt idx="0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56-4248-A372-1382A931054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Полезность привязки тем к разделам</c:v>
                </c:pt>
              </c:strCache>
            </c:strRef>
          </c:tx>
          <c:spPr>
            <a:solidFill>
              <a:schemeClr val="tx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Лист1!$D$2</c:f>
              <c:numCache>
                <c:formatCode>0%</c:formatCode>
                <c:ptCount val="1"/>
                <c:pt idx="0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56-4248-A372-1382A9310540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Готовность использовать для подготовки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Опрос 1</c:v>
                </c:pt>
              </c:strCache>
            </c:strRef>
          </c:cat>
          <c:val>
            <c:numRef>
              <c:f>Лист1!$E$2</c:f>
              <c:numCache>
                <c:formatCode>0%</c:formatCode>
                <c:ptCount val="1"/>
                <c:pt idx="0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1A-49BB-A410-1B4AE418B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8612623"/>
        <c:axId val="1264235071"/>
      </c:barChart>
      <c:catAx>
        <c:axId val="1268612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64235071"/>
        <c:crosses val="autoZero"/>
        <c:auto val="1"/>
        <c:lblAlgn val="ctr"/>
        <c:lblOffset val="100"/>
        <c:noMultiLvlLbl val="0"/>
      </c:catAx>
      <c:valAx>
        <c:axId val="1264235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  <c:crossAx val="1268612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ru-RU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ru-RU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</c:legendEntry>
      <c:layout>
        <c:manualLayout>
          <c:xMode val="edge"/>
          <c:yMode val="edge"/>
          <c:x val="8.6084894560593719E-2"/>
          <c:y val="0.49465746682776984"/>
          <c:w val="0.84773210245271069"/>
          <c:h val="0.505342533172230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52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77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593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03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939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7131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317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9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382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93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655415" y="2066475"/>
            <a:ext cx="5832542" cy="15062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200" b="1" dirty="0"/>
              <a:t>Разработка мобильного справочника-навигатора по математике для подготовки к ЕГЭ</a:t>
            </a:r>
            <a:endParaRPr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45586" y="3880146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2686" y="138957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Актуальность и проблема</a:t>
            </a:r>
            <a:endParaRPr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722285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7D2560-289B-44B8-8B3A-5E76C852F622}"/>
              </a:ext>
            </a:extLst>
          </p:cNvPr>
          <p:cNvSpPr/>
          <p:nvPr/>
        </p:nvSpPr>
        <p:spPr>
          <a:xfrm>
            <a:off x="2289119" y="666425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Актуальность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Математика - обязательный предмет ЕГЭ, требующий систематизации огромного объема материала с 7 по 11 класс.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7643B1-FDA8-4C29-8480-9BB181948126}"/>
              </a:ext>
            </a:extLst>
          </p:cNvPr>
          <p:cNvSpPr/>
          <p:nvPr/>
        </p:nvSpPr>
        <p:spPr>
          <a:xfrm>
            <a:off x="2192563" y="2335575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Проблема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отсутствие бесплатного структурированного справочника, работающего без интернета.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B03658-3D8E-4195-8A08-FCB371D0BE41}"/>
              </a:ext>
            </a:extLst>
          </p:cNvPr>
          <p:cNvSpPr/>
          <p:nvPr/>
        </p:nvSpPr>
        <p:spPr>
          <a:xfrm>
            <a:off x="2246280" y="3819423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Целевая аудитория</a:t>
            </a:r>
            <a:endParaRPr lang="ru-RU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учащиеся 7-11 классов, планирующие сдавать ЕГЭ по математике</a:t>
            </a:r>
          </a:p>
        </p:txBody>
      </p:sp>
    </p:spTree>
    <p:extLst>
      <p:ext uri="{BB962C8B-B14F-4D97-AF65-F5344CB8AC3E}">
        <p14:creationId xmlns:p14="http://schemas.microsoft.com/office/powerpoint/2010/main" val="11119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29722" y="-73215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Цель, задачи, гипотеза</a:t>
            </a:r>
            <a:endParaRPr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498485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7D2560-289B-44B8-8B3A-5E76C852F622}"/>
              </a:ext>
            </a:extLst>
          </p:cNvPr>
          <p:cNvSpPr/>
          <p:nvPr/>
        </p:nvSpPr>
        <p:spPr>
          <a:xfrm>
            <a:off x="1696653" y="589417"/>
            <a:ext cx="5620525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проекта: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разработать мобильное приложение на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Studio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и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для структурированного изучения математики и подготовки к ЕГЭ.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Задачи: 1. 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Проанализировать существующие мобильные образовательные ресурсы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Спроектировать базу данных (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Разработать интерфейс на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с навигацией по классам и фильтрацией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Протестировать на реальных устройствах и получить обратную связь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Гипотеза: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мобильное приложение позволит повысить эффективность подготовки к ЕГЭ за счет удобной структуризации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9969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204DDC8B-8CF3-4262-AC56-4B1E2EB74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326104"/>
              </p:ext>
            </p:extLst>
          </p:nvPr>
        </p:nvGraphicFramePr>
        <p:xfrm>
          <a:off x="1804937" y="874886"/>
          <a:ext cx="5524500" cy="434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00706D-6D44-489F-B612-59D65F965988}"/>
              </a:ext>
            </a:extLst>
          </p:cNvPr>
          <p:cNvSpPr/>
          <p:nvPr/>
        </p:nvSpPr>
        <p:spPr>
          <a:xfrm>
            <a:off x="1861941" y="184557"/>
            <a:ext cx="54200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ldrich"/>
              </a:rPr>
              <a:t>Опрос учащихся (35 человек)</a:t>
            </a:r>
          </a:p>
        </p:txBody>
      </p:sp>
    </p:spTree>
    <p:extLst>
      <p:ext uri="{BB962C8B-B14F-4D97-AF65-F5344CB8AC3E}">
        <p14:creationId xmlns:p14="http://schemas.microsoft.com/office/powerpoint/2010/main" val="2350063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30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Анализ существующих решений</a:t>
            </a:r>
            <a:endParaRPr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352B79D-07CB-4036-8CDA-9A5F7DAF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31114"/>
              </p:ext>
            </p:extLst>
          </p:nvPr>
        </p:nvGraphicFramePr>
        <p:xfrm>
          <a:off x="1613848" y="672618"/>
          <a:ext cx="5916304" cy="3413760"/>
        </p:xfrm>
        <a:graphic>
          <a:graphicData uri="http://schemas.openxmlformats.org/drawingml/2006/table">
            <a:tbl>
              <a:tblPr firstRow="1" bandRow="1">
                <a:tableStyleId>{5CE9F440-6155-48A2-98EE-A740F4973178}</a:tableStyleId>
              </a:tblPr>
              <a:tblGrid>
                <a:gridCol w="1333670">
                  <a:extLst>
                    <a:ext uri="{9D8B030D-6E8A-4147-A177-3AD203B41FA5}">
                      <a16:colId xmlns:a16="http://schemas.microsoft.com/office/drawing/2014/main" val="2025412597"/>
                    </a:ext>
                  </a:extLst>
                </a:gridCol>
                <a:gridCol w="2291317">
                  <a:extLst>
                    <a:ext uri="{9D8B030D-6E8A-4147-A177-3AD203B41FA5}">
                      <a16:colId xmlns:a16="http://schemas.microsoft.com/office/drawing/2014/main" val="1076456652"/>
                    </a:ext>
                  </a:extLst>
                </a:gridCol>
                <a:gridCol w="2291317">
                  <a:extLst>
                    <a:ext uri="{9D8B030D-6E8A-4147-A177-3AD203B41FA5}">
                      <a16:colId xmlns:a16="http://schemas.microsoft.com/office/drawing/2014/main" val="3179184655"/>
                    </a:ext>
                  </a:extLst>
                </a:gridCol>
              </a:tblGrid>
              <a:tr h="395735">
                <a:tc>
                  <a:txBody>
                    <a:bodyPr/>
                    <a:lstStyle/>
                    <a:p>
                      <a:pPr algn="ctr"/>
                      <a:r>
                        <a:rPr lang="ru-RU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Ресурс</a:t>
                      </a:r>
                      <a:endParaRPr lang="ru-RU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Sai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756802"/>
                  </a:ext>
                </a:extLst>
              </a:tr>
              <a:tr h="11915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Решу ЕГЭ</a:t>
                      </a:r>
                      <a:endParaRPr lang="ru-RU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Sai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Большая база заданий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Требуется интернет, нет структуры по классам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113963"/>
                  </a:ext>
                </a:extLst>
              </a:tr>
              <a:tr h="6373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Яндекс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Учебник</a:t>
                      </a:r>
                      <a:endParaRPr lang="ru-RU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Sai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Качественные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Платный доступ, только онлайн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8805"/>
                  </a:ext>
                </a:extLst>
              </a:tr>
              <a:tr h="914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Моб. справочники</a:t>
                      </a:r>
                      <a:endParaRPr lang="ru-RU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Sair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Удобно на телефоне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Фрагментарно, реклама</a:t>
                      </a:r>
                      <a:endParaRPr lang="ru-RU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46986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DB1D601-83BA-479A-8C21-8EBC803152AA}"/>
              </a:ext>
            </a:extLst>
          </p:cNvPr>
          <p:cNvSpPr/>
          <p:nvPr/>
        </p:nvSpPr>
        <p:spPr>
          <a:xfrm>
            <a:off x="1613848" y="4186297"/>
            <a:ext cx="5916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Вывод: ни один ресурс не дает единой структуры 7-11 класс + офлайн-доступ бесплатно</a:t>
            </a:r>
          </a:p>
        </p:txBody>
      </p:sp>
    </p:spTree>
    <p:extLst>
      <p:ext uri="{BB962C8B-B14F-4D97-AF65-F5344CB8AC3E}">
        <p14:creationId xmlns:p14="http://schemas.microsoft.com/office/powerpoint/2010/main" val="405774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30"/>
          <p:cNvSpPr txBox="1">
            <a:spLocks noGrp="1"/>
          </p:cNvSpPr>
          <p:nvPr>
            <p:ph type="title"/>
          </p:nvPr>
        </p:nvSpPr>
        <p:spPr>
          <a:xfrm>
            <a:off x="720000" y="568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Технологии разработки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09AA38D-5A82-4B9E-A854-7078F44EC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595477"/>
              </p:ext>
            </p:extLst>
          </p:nvPr>
        </p:nvGraphicFramePr>
        <p:xfrm>
          <a:off x="1524000" y="715002"/>
          <a:ext cx="6096000" cy="3931920"/>
        </p:xfrm>
        <a:graphic>
          <a:graphicData uri="http://schemas.openxmlformats.org/drawingml/2006/table">
            <a:tbl>
              <a:tblPr firstRow="1" bandRow="1">
                <a:tableStyleId>{5CE9F440-6155-48A2-98EE-A740F4973178}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671300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821151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43200372"/>
                    </a:ext>
                  </a:extLst>
                </a:gridCol>
              </a:tblGrid>
              <a:tr h="333091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Технология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Назначение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Преимущества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389801687"/>
                  </a:ext>
                </a:extLst>
              </a:tr>
              <a:tr h="967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Java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Язык программирования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Кроссплатформенность, поддержка </a:t>
                      </a:r>
                      <a:r>
                        <a:rPr lang="ru-RU" sz="16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Google</a:t>
                      </a:r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, большое сообщество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50143676"/>
                  </a:ext>
                </a:extLst>
              </a:tr>
              <a:tr h="758143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Android Studio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Среда разработки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Удобный эмулятор, отладка, встроенные инструменты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79419639"/>
                  </a:ext>
                </a:extLst>
              </a:tr>
              <a:tr h="56858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SQLite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База данных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Локальное хранение, не требует сервера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959271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74958" y="125955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Архитектура приложения</a:t>
            </a:r>
            <a:endParaRPr lang="ru-R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817126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D1E844-A114-43E2-AB74-7D5863320F1B}"/>
              </a:ext>
            </a:extLst>
          </p:cNvPr>
          <p:cNvSpPr txBox="1"/>
          <p:nvPr/>
        </p:nvSpPr>
        <p:spPr>
          <a:xfrm>
            <a:off x="1874612" y="865961"/>
            <a:ext cx="556046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Уровень данных (</a:t>
            </a:r>
            <a:r>
              <a:rPr lang="ru-RU" altLang="ru-RU" sz="1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Таблица 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grades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(классы 7–11: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grade_number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Таблица 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(темы: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grade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difficulty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exam_importance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min_content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Уровень логики (</a:t>
            </a:r>
            <a:r>
              <a:rPr lang="ru-RU" altLang="ru-RU" sz="1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Класс 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DatabaseHelper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работа с БД (CRUD операции, копирование из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assets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Классы 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/ 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FilterSettings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модели данных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Логика фильтрации по разделам, сложности и важности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Уровень интерфейса (</a:t>
            </a:r>
            <a:r>
              <a:rPr lang="ru-RU" altLang="ru-RU" sz="1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</a:t>
            </a:r>
            <a:r>
              <a:rPr lang="ru-RU" altLang="ru-RU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MainActivity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главный экран со списком тем (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RecyclerView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CardView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TopicDetailActivity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детальный просмотр темы с изображением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FilterActivity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окно настройки фильтров (</a:t>
            </a: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AddEditTopicActivity</a:t>
            </a:r>
            <a:r>
              <a:rPr lang="ru-RU" altLang="ru-RU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— добавление / редактирование тем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ru-RU" altLang="ru-RU" sz="700" dirty="0">
                <a:solidFill>
                  <a:schemeClr val="tx1"/>
                </a:solidFill>
              </a:rPr>
            </a:br>
            <a:endParaRPr lang="ru-RU" altLang="ru-RU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559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204DDC8B-8CF3-4262-AC56-4B1E2EB74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263265"/>
              </p:ext>
            </p:extLst>
          </p:nvPr>
        </p:nvGraphicFramePr>
        <p:xfrm>
          <a:off x="1854163" y="645327"/>
          <a:ext cx="5524500" cy="434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00706D-6D44-489F-B612-59D65F965988}"/>
              </a:ext>
            </a:extLst>
          </p:cNvPr>
          <p:cNvSpPr/>
          <p:nvPr/>
        </p:nvSpPr>
        <p:spPr>
          <a:xfrm>
            <a:off x="1861941" y="184557"/>
            <a:ext cx="54200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ldrich"/>
              </a:rPr>
              <a:t>Опрос учащихся (17 человек)</a:t>
            </a:r>
          </a:p>
        </p:txBody>
      </p:sp>
    </p:spTree>
    <p:extLst>
      <p:ext uri="{BB962C8B-B14F-4D97-AF65-F5344CB8AC3E}">
        <p14:creationId xmlns:p14="http://schemas.microsoft.com/office/powerpoint/2010/main" val="295936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74958" y="125955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</a:t>
            </a:r>
            <a:endParaRPr lang="ru-R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817126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7D2560-289B-44B8-8B3A-5E76C852F622}"/>
              </a:ext>
            </a:extLst>
          </p:cNvPr>
          <p:cNvSpPr/>
          <p:nvPr/>
        </p:nvSpPr>
        <p:spPr>
          <a:xfrm>
            <a:off x="1678048" y="963488"/>
            <a:ext cx="569777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учащихся: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Структурированный каталог всех тем с 7 по 11 класс в одном месте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Быстрый поиск через фильтрацию по разделам, сложности и важности для ЕГЭ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Офлайн-доступ к материалам в любое время без интернета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Экономия времени при подготовке к экзаменам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преподавателей: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Готовый дидактический материал для использования на уроках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Помощь в подборе тем для повторения и контрольных работ</a:t>
            </a:r>
          </a:p>
        </p:txBody>
      </p:sp>
    </p:spTree>
    <p:extLst>
      <p:ext uri="{BB962C8B-B14F-4D97-AF65-F5344CB8AC3E}">
        <p14:creationId xmlns:p14="http://schemas.microsoft.com/office/powerpoint/2010/main" val="12548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74958" y="125955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</a:t>
            </a:r>
            <a:endParaRPr lang="ru-R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817126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7D2560-289B-44B8-8B3A-5E76C852F622}"/>
              </a:ext>
            </a:extLst>
          </p:cNvPr>
          <p:cNvSpPr/>
          <p:nvPr/>
        </p:nvSpPr>
        <p:spPr>
          <a:xfrm>
            <a:off x="1691611" y="1017991"/>
            <a:ext cx="56977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Сравнение времени поиска информации: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Бумажный справочник / учебник: 1-2 минуты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Разработанное приложение: 10-20 секунд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 Эффективность повысилась в 6-9 раз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C92E9A-9FDC-494E-A4C9-D485B4DEC0D2}"/>
              </a:ext>
            </a:extLst>
          </p:cNvPr>
          <p:cNvSpPr/>
          <p:nvPr/>
        </p:nvSpPr>
        <p:spPr>
          <a:xfrm>
            <a:off x="2246280" y="25256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Преимущества перед существующими аналогами: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Полностью бесплатное приложение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Отсутствие рекламы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Не требует подключения к интернету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Единая база материала с 7 по 11 класс</a:t>
            </a:r>
          </a:p>
        </p:txBody>
      </p:sp>
    </p:spTree>
    <p:extLst>
      <p:ext uri="{BB962C8B-B14F-4D97-AF65-F5344CB8AC3E}">
        <p14:creationId xmlns:p14="http://schemas.microsoft.com/office/powerpoint/2010/main" val="252966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700" y="15243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Этапы работы над проектом</a:t>
            </a:r>
            <a:endParaRPr lang="ru-R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1914407" y="609415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1B110B-132E-4BB8-A940-A02DB380D2EF}"/>
              </a:ext>
            </a:extLst>
          </p:cNvPr>
          <p:cNvSpPr/>
          <p:nvPr/>
        </p:nvSpPr>
        <p:spPr>
          <a:xfrm>
            <a:off x="1720892" y="643943"/>
            <a:ext cx="57022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Подготовительный (сентябрь-октябрь 2025) - определение темы, постановка цели и задач, проведение опроса.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Проектировочный (ноябрь-декабрь 2025) - анализ технологий, проектирование БД и интерфейса.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Разработческий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(январь-февраль 2026) - написание кода, реализация модулей.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Тестовый (март 2026) - тестирование, сбор обратной связи.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Заключительный (март 2026) - оформление документации, подготовка к защите. </a:t>
            </a:r>
          </a:p>
        </p:txBody>
      </p:sp>
    </p:spTree>
    <p:extLst>
      <p:ext uri="{BB962C8B-B14F-4D97-AF65-F5344CB8AC3E}">
        <p14:creationId xmlns:p14="http://schemas.microsoft.com/office/powerpoint/2010/main" val="156601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700" y="-98203"/>
            <a:ext cx="6006600" cy="615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b="1" dirty="0">
                <a:latin typeface="Calibri" panose="020F0502020204030204" pitchFamily="34" charset="0"/>
                <a:cs typeface="Calibri" panose="020F0502020204030204" pitchFamily="34" charset="0"/>
              </a:rPr>
              <a:t>Заключение</a:t>
            </a:r>
            <a:endParaRPr lang="ru-RU" sz="3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05475" y="411171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1B110B-132E-4BB8-A940-A02DB380D2EF}"/>
              </a:ext>
            </a:extLst>
          </p:cNvPr>
          <p:cNvSpPr/>
          <p:nvPr/>
        </p:nvSpPr>
        <p:spPr>
          <a:xfrm>
            <a:off x="1724863" y="492090"/>
            <a:ext cx="570221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достигнута: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разработано приложение-справочник по математике для подготовки к ЕГЭ.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Создана база данных (100+ тем по классам 7-11)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Реализованы навигация, фильтрация, детальный просмотр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Тестирование подтвердило эффективность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Гипотеза подтверждена: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время поиска информации сократилось с 1-2 минут до 10-20 секунд.</a:t>
            </a:r>
          </a:p>
          <a:p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Перспективы: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Расширение базы до 300+ тем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Модуль тестирования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891593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242</Words>
  <Application>Microsoft Office PowerPoint</Application>
  <PresentationFormat>Экран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Bebas Neue</vt:lpstr>
      <vt:lpstr>Aldrich</vt:lpstr>
      <vt:lpstr>Calibri</vt:lpstr>
      <vt:lpstr>Arial</vt:lpstr>
      <vt:lpstr>Saira</vt:lpstr>
      <vt:lpstr>Information Technology Project Proposal by Slidesgo</vt:lpstr>
      <vt:lpstr>Разработка мобильного справочника-навигатора по математике для подготовки к ЕГЭ</vt:lpstr>
      <vt:lpstr>Актуальность и проблема</vt:lpstr>
      <vt:lpstr>Цель, задачи, гипотеза</vt:lpstr>
      <vt:lpstr>Презентация PowerPoint</vt:lpstr>
      <vt:lpstr>Анализ существующих решений</vt:lpstr>
      <vt:lpstr>Технологии разработки</vt:lpstr>
      <vt:lpstr>Архитектура приложения</vt:lpstr>
      <vt:lpstr>Презентация PowerPoint</vt:lpstr>
      <vt:lpstr>Практическая значимость</vt:lpstr>
      <vt:lpstr>Практическая значимость</vt:lpstr>
      <vt:lpstr>Этапы работы над проектом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мобильного приложения для изучения истории России</dc:title>
  <dc:creator>Виктор Ломзиков</dc:creator>
  <cp:lastModifiedBy>Виктор Ломзиков</cp:lastModifiedBy>
  <cp:revision>40</cp:revision>
  <dcterms:modified xsi:type="dcterms:W3CDTF">2026-05-14T18:44:33Z</dcterms:modified>
</cp:coreProperties>
</file>